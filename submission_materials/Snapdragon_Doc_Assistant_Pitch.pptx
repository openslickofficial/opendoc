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QUALCOMM AI HUB HACKATHON  |  SNAPDRAGON® X NPU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Snapdragon® Document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8BDD4"/>
                </a:solidFill>
              </a:defRPr>
            </a:pPr>
            <a:r>
              <a:t>Offline On-Device Document Intelligence, Plain-Language Simplification &amp; Audio Accessibility for Indian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3200400" cy="164592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57200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FF4B6E"/>
                </a:solidFill>
              </a:defRPr>
            </a:pPr>
            <a:r>
              <a:t>100% On-Device NPU</a:t>
            </a:r>
          </a:p>
          <a:p>
            <a:pPr>
              <a:defRPr sz="1300">
                <a:solidFill>
                  <a:srgbClr val="B8BDD4"/>
                </a:solidFill>
              </a:defRPr>
            </a:pPr>
            <a:r>
              <a:t>TrOCR &amp; Qwen on Qualcomm Hexagon HTP v73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389120"/>
            <a:ext cx="3200400" cy="164592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57200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D2FF"/>
                </a:solidFill>
              </a:defRPr>
            </a:pPr>
            <a:r>
              <a:t>Fidelity Safeguard</a:t>
            </a:r>
          </a:p>
          <a:p>
            <a:pPr>
              <a:defRPr sz="1300">
                <a:solidFill>
                  <a:srgbClr val="B8BDD4"/>
                </a:solidFill>
              </a:defRPr>
            </a:pPr>
            <a:r>
              <a:t>Deterministic entity verification preventing LLM hallucinations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4389120"/>
            <a:ext cx="3200400" cy="164592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69F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457200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9F0AE"/>
                </a:solidFill>
              </a:defRPr>
            </a:pPr>
            <a:r>
              <a:t>True Offline Privacy</a:t>
            </a:r>
          </a:p>
          <a:p>
            <a:pPr>
              <a:defRPr sz="1300">
                <a:solidFill>
                  <a:srgbClr val="B8BDD4"/>
                </a:solidFill>
              </a:defRPr>
            </a:pPr>
            <a:r>
              <a:t>Zero cloud API calls, zero telemetry, memory-safe wipe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4B6E"/>
                </a:solidFill>
              </a:defRPr>
            </a:pPr>
            <a:r>
              <a:t>The Problem: The Literacy &amp; Language Accessibility Barrier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7432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54F"/>
                </a:solidFill>
              </a:defRPr>
            </a:pPr>
            <a:r>
              <a:t>Complex Legal &amp; Medical Jargon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Official government notices, hospital invoices, and court summonses are written in dense, intimidating English. Citizens reading in a second language struggle to identify what action is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377440"/>
            <a:ext cx="27432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4B6E"/>
                </a:solidFill>
              </a:defRPr>
            </a:pPr>
            <a:r>
              <a:t>Catastrophic Cost of Mistakes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Misinterpreting a deadline or payment amount results in power disconnection, lost health benefits, or default legal judgments. A single misread digit has real-life consequences.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329184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2377440"/>
            <a:ext cx="27432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2FF"/>
                </a:solidFill>
              </a:defRPr>
            </a:pPr>
            <a:r>
              <a:t>The Cloud &amp; Hallucination Dilemma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Uploading sensitive medical bills to cloud APIs violates user privacy and requires internet access. Standard LLMs hallucinate numbers, invert approvals to denials, or drop critical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4B6E"/>
                </a:solidFill>
              </a:defRPr>
            </a:pPr>
            <a:r>
              <a:t>The Solution: 4-Stage On-Device Intelligence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42316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057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STAGE 1: OCR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TrOCR on NPU</a:t>
            </a:r>
          </a:p>
          <a:p>
            <a:pPr>
              <a:defRPr sz="1250">
                <a:solidFill>
                  <a:srgbClr val="B8BDD4"/>
                </a:solidFill>
              </a:defRPr>
            </a:pPr>
            <a:r>
              <a:t>Qualcomm QNN EP offload on Hexagon NPU. Deskewing &amp; CLAHE preprocessing.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2011680"/>
            <a:ext cx="242316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286000"/>
            <a:ext cx="2057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D54F"/>
                </a:solidFill>
              </a:defRPr>
            </a:pPr>
            <a:r>
              <a:t>STAGE 2: SIMPLIFY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Plain-Language LLM</a:t>
            </a:r>
          </a:p>
          <a:p>
            <a:pPr>
              <a:defRPr sz="1250">
                <a:solidFill>
                  <a:srgbClr val="B8BDD4"/>
                </a:solidFill>
              </a:defRPr>
            </a:pPr>
            <a:r>
              <a:t>Rewrites dense jargon to 6th-8th grade English via Qwen on Qualcomm Genie SDK.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42316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69F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2057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9F0AE"/>
                </a:solidFill>
              </a:defRPr>
            </a:pPr>
            <a:r>
              <a:t>STAGE 3: TRANSLATE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Indic Translation</a:t>
            </a:r>
          </a:p>
          <a:p>
            <a:pPr>
              <a:defRPr sz="1250">
                <a:solidFill>
                  <a:srgbClr val="B8BDD4"/>
                </a:solidFill>
              </a:defRPr>
            </a:pPr>
            <a:r>
              <a:t>Anchor-Preserved Translation into Hindi/Tamil/Bengali with zero hallucination.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011680"/>
            <a:ext cx="242316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286000"/>
            <a:ext cx="2057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4B6E"/>
                </a:solidFill>
              </a:defRPr>
            </a:pPr>
            <a:r>
              <a:t>STAGE 4: SPEECH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Neural TTS</a:t>
            </a:r>
          </a:p>
          <a:p>
            <a:pPr>
              <a:defRPr sz="1250">
                <a:solidFill>
                  <a:srgbClr val="B8BDD4"/>
                </a:solidFill>
              </a:defRPr>
            </a:pPr>
            <a:r>
              <a:t>On-device Piper ONNX text-to-speech with spoken warning safety policy.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4B6E"/>
                </a:solidFill>
              </a:defRPr>
            </a:pPr>
            <a:r>
              <a:t>Key Differentiator: Deterministic Cross-Stage Fidelity Safeguard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411480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4B6E"/>
                </a:solidFill>
              </a:defRPr>
            </a:pPr>
            <a:r>
              <a:t>⚠️ The Threat: LLM Hallucinations</a:t>
            </a:r>
          </a:p>
          <a:p>
            <a:pPr>
              <a:defRPr sz="1350">
                <a:solidFill>
                  <a:srgbClr val="B8BDD4"/>
                </a:solidFill>
              </a:defRPr>
            </a:pPr>
            <a:r>
              <a:t>• LLMs routinely drop dollar signs or digits ($450 -&gt; $50).</a:t>
            </a:r>
          </a:p>
          <a:p>
            <a:pPr>
              <a:defRPr sz="1350">
                <a:solidFill>
                  <a:srgbClr val="B8BDD4"/>
                </a:solidFill>
              </a:defRPr>
            </a:pPr>
            <a:r>
              <a:t>• Polarity inversion: 'Claim Approved' translated as 'अस्वीकृत' (Rejected).</a:t>
            </a:r>
          </a:p>
          <a:p>
            <a:pPr>
              <a:defRPr sz="1350">
                <a:solidFill>
                  <a:srgbClr val="B8BDD4"/>
                </a:solidFill>
              </a:defRPr>
            </a:pPr>
            <a:r>
              <a:t>• Date shifts: Due dates altered from Oct 15 to Nov 15.</a:t>
            </a:r>
          </a:p>
          <a:p>
            <a:pPr>
              <a:defRPr sz="1350">
                <a:solidFill>
                  <a:srgbClr val="B8BDD4"/>
                </a:solidFill>
              </a:defRPr>
            </a:pPr>
            <a:r>
              <a:t>• Unacceptable in medical statements and legal summonses.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411480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69F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9F0AE"/>
                </a:solidFill>
              </a:defRPr>
            </a:pPr>
            <a:r>
              <a:t>🛡️ Our Solution: Deterministic Entity Verification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Exact entity auditing across every stage (Dates, Amounts, IDs, Status).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Cross-language regex auditing across English, Hindi, Tamil, Bengali.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Spoken Hindi Warning prepended to speech if mismatch detected: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  'चेतावनी: इस दस्तावेज़ में जानकारी की पुष्टि नहीं हो सकी है। मूल दस्तावेज़ की जाँच करें।'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Strict Safety Gate option: Suppresses audio generation completely.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4B6E"/>
                </a:solidFill>
              </a:defRPr>
            </a:pPr>
            <a:r>
              <a:t>Qualcomm AI Hub &amp; Hexagon NPU Acceleration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7432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2FF"/>
                </a:solidFill>
              </a:defRPr>
            </a:pPr>
            <a:r>
              <a:t>TrOCR Vision Encoder / Decoder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100% NPU Layer Placement</a:t>
            </a:r>
          </a:p>
          <a:p>
            <a:pPr>
              <a:defRPr sz="1350">
                <a:solidFill>
                  <a:srgbClr val="B8BDD4"/>
                </a:solidFill>
              </a:defRPr>
            </a:pPr>
            <a:r>
              <a:t>Compiled via Qualcomm AI Hub for Snapdragon X Elite Hexagon Tensor Processor (HTP v73). Inference latency: 1.7s per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377440"/>
            <a:ext cx="27432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54F"/>
                </a:solidFill>
              </a:defRPr>
            </a:pPr>
            <a:r>
              <a:t>Genie LLM Runtime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Qwen3-1.7B w4a16</a:t>
            </a:r>
          </a:p>
          <a:p>
            <a:pPr>
              <a:defRPr sz="1350">
                <a:solidFill>
                  <a:srgbClr val="B8BDD4"/>
                </a:solidFill>
              </a:defRPr>
            </a:pPr>
            <a:r>
              <a:t>Quantized 4-bit weights and 16-bit activations partitioned for Hexagon NPU execution via Qualcomm Genie SDK.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3291840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69F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2377440"/>
            <a:ext cx="27432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9F0AE"/>
                </a:solidFill>
              </a:defRPr>
            </a:pPr>
            <a:r>
              <a:t>Sub-Millisecond Routing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Anchor-Preserved Lexicon</a:t>
            </a:r>
          </a:p>
          <a:p>
            <a:pPr>
              <a:defRPr sz="1350">
                <a:solidFill>
                  <a:srgbClr val="B8BDD4"/>
                </a:solidFill>
              </a:defRPr>
            </a:pPr>
            <a:r>
              <a:t>Structured bills and notices bypass generative overhead completely, delivering sub-millisecond Indic translations with 0%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4B6E"/>
                </a:solidFill>
              </a:defRPr>
            </a:pPr>
            <a:r>
              <a:t>Security, Privacy &amp; Robustness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937760" cy="192024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69F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9F0AE"/>
                </a:solidFill>
              </a:defRPr>
            </a:pPr>
            <a:r>
              <a:t>Zero Network Dependency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100% offline runtime verified under physical network disconnect. Zero runtime cloud endpoints, zero analytics, zero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4937760" cy="192024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D2FF"/>
                </a:solidFill>
              </a:defRPr>
            </a:pPr>
            <a:r>
              <a:t>Memory-Safe Data Retention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Document scans and extracted text exist strictly in volatile RAM. No unmanaged temp copies. Integrated '🧹 Clear Session &amp; Cache' button wipes RAM &amp; disk audio.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4937760" cy="192024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4B6E"/>
                </a:solidFill>
              </a:defRPr>
            </a:pPr>
            <a:r>
              <a:t>Hardened Against Attacks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Sanitized SAPI5 shell injection via stdin piping. Sanitized exception traces to prevent PII leakage. Protected against 400 MP dimension bombs.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4937760" cy="192024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D54F"/>
                </a:solidFill>
              </a:defRPr>
            </a:pPr>
            <a:r>
              <a:t>Dependency Vulnerability Free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Audited via Google OSV / PyPI database: Transformers (0 CVEs), ONNX Runtime (0 CVEs), OpenCV (0 CVEs), PySide6 (0 CVEs).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Snapdragon Document Assistant: Ready for Real-World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10360152" cy="3840480"/>
          </a:xfrm>
          <a:prstGeom prst="roundRect">
            <a:avLst/>
          </a:prstGeom>
          <a:solidFill>
            <a:srgbClr val="1A1C2B"/>
          </a:solidFill>
          <a:ln w="19050">
            <a:solidFill>
              <a:srgbClr val="FF4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601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0D2FF"/>
                </a:solidFill>
              </a:rPr>
              <a:t>✔ Production Packaging: </a:t>
            </a:r>
            <a:r>
              <a:rPr sz="1500">
                <a:solidFill>
                  <a:srgbClr val="FFFFFF"/>
                </a:solidFill>
              </a:rPr>
              <a:t>Compiled standalone Windows binary (SnapdragonDocAssistant.exe) with bundled offline models and accessible PySide6 GUI.</a:t>
            </a:r>
          </a:p>
          <a:p>
            <a:r>
              <a:rPr b="1" sz="1600">
                <a:solidFill>
                  <a:srgbClr val="00D2FF"/>
                </a:solidFill>
              </a:rPr>
              <a:t>✔ Empowering Citizens: </a:t>
            </a:r>
            <a:r>
              <a:rPr sz="1500">
                <a:solidFill>
                  <a:srgbClr val="FFFFFF"/>
                </a:solidFill>
              </a:rPr>
              <a:t>Enables vulnerable users to independently understand complex medical and legal notices with complete privacy.</a:t>
            </a:r>
          </a:p>
          <a:p>
            <a:r>
              <a:rPr b="1" sz="1600">
                <a:solidFill>
                  <a:srgbClr val="00D2FF"/>
                </a:solidFill>
              </a:rPr>
              <a:t>✔ Proven Qualcomm Hardware Leverage: </a:t>
            </a:r>
            <a:r>
              <a:rPr sz="1500">
                <a:solidFill>
                  <a:srgbClr val="FFFFFF"/>
                </a:solidFill>
              </a:rPr>
              <a:t>Built specifically to demonstrate the speed, thermal efficiency, and intelligence of Snapdragon® X NPUs.</a:t>
            </a:r>
          </a:p>
          <a:p>
            <a:r>
              <a:rPr b="1" sz="1600">
                <a:solidFill>
                  <a:srgbClr val="00D2FF"/>
                </a:solidFill>
              </a:rPr>
              <a:t>✔ Open Source &amp; Verifiable: </a:t>
            </a:r>
            <a:r>
              <a:rPr sz="1500">
                <a:solidFill>
                  <a:srgbClr val="FFFFFF"/>
                </a:solidFill>
              </a:rPr>
              <a:t>Complete source code, regression suites, offline benchmarks, and demo files available on GitHub: https://github.com/openslickofficial/OpenDoc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